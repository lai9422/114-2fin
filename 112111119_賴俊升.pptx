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9756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5.jpe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5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743075" y="1683693"/>
            <a:ext cx="5657850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3300" b="1" kern="0" spc="2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低軌衛星通訊備援分析報告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743075" y="2546300"/>
            <a:ext cx="565785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以 Starlink 為例之通訊韌性評估</a:t>
            </a:r>
            <a:endParaRPr lang="en-US" sz="15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075" y="3082082"/>
            <a:ext cx="125016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68091" y="3072727"/>
            <a:ext cx="1630254" cy="1615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報告人：112111119</a:t>
            </a:r>
            <a:r>
              <a:rPr lang="en-US" altLang="zh-TW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</a:t>
            </a: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賴俊升</a:t>
            </a:r>
            <a:endParaRPr lang="en-US" sz="1050" dirty="0"/>
          </a:p>
        </p:txBody>
      </p:sp>
      <p:sp>
        <p:nvSpPr>
          <p:cNvPr id="9" name="Shape 4"/>
          <p:cNvSpPr/>
          <p:nvPr/>
        </p:nvSpPr>
        <p:spPr>
          <a:xfrm>
            <a:off x="1743075" y="3471416"/>
            <a:ext cx="1185863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1897552" y="3497817"/>
            <a:ext cx="1106457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低地球軌道衛星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3000375" y="3471416"/>
            <a:ext cx="1143000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8"/>
          <p:cNvSpPr/>
          <p:nvPr/>
        </p:nvSpPr>
        <p:spPr>
          <a:xfrm>
            <a:off x="4214813" y="3471416"/>
            <a:ext cx="985838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FEB59BE1-1F63-8611-D94B-B5B6BE60ADFB}"/>
              </a:ext>
            </a:extLst>
          </p:cNvPr>
          <p:cNvSpPr/>
          <p:nvPr/>
        </p:nvSpPr>
        <p:spPr>
          <a:xfrm>
            <a:off x="6486527" y="3476476"/>
            <a:ext cx="1143000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25BDA9AD-5421-0708-B0BC-1DD096D60BAD}"/>
              </a:ext>
            </a:extLst>
          </p:cNvPr>
          <p:cNvSpPr/>
          <p:nvPr/>
        </p:nvSpPr>
        <p:spPr>
          <a:xfrm>
            <a:off x="5272089" y="3471416"/>
            <a:ext cx="1143000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276B6B5E-1026-70E2-0224-86E01DB02C07}"/>
              </a:ext>
            </a:extLst>
          </p:cNvPr>
          <p:cNvSpPr/>
          <p:nvPr/>
        </p:nvSpPr>
        <p:spPr>
          <a:xfrm>
            <a:off x="3198675" y="3504049"/>
            <a:ext cx="779444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星鏈計畫</a:t>
            </a:r>
            <a:endParaRPr lang="en-US" sz="850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0A94ECE1-021B-AF1B-1BEB-62E7A8C57371}"/>
              </a:ext>
            </a:extLst>
          </p:cNvPr>
          <p:cNvSpPr/>
          <p:nvPr/>
        </p:nvSpPr>
        <p:spPr>
          <a:xfrm>
            <a:off x="4338664" y="3496712"/>
            <a:ext cx="779444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通訊備援</a:t>
            </a:r>
            <a:endParaRPr lang="en-US" sz="850" dirty="0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2B4A89AE-905B-4447-1E54-10BC5FE07ADF}"/>
              </a:ext>
            </a:extLst>
          </p:cNvPr>
          <p:cNvSpPr/>
          <p:nvPr/>
        </p:nvSpPr>
        <p:spPr>
          <a:xfrm>
            <a:off x="5511794" y="3480523"/>
            <a:ext cx="779444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通訊韌性</a:t>
            </a:r>
            <a:endParaRPr lang="en-US" sz="85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A9BEED6A-ED7B-B50E-62C6-756BA05C6AF8}"/>
              </a:ext>
            </a:extLst>
          </p:cNvPr>
          <p:cNvSpPr/>
          <p:nvPr/>
        </p:nvSpPr>
        <p:spPr>
          <a:xfrm>
            <a:off x="6661555" y="3480097"/>
            <a:ext cx="739370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en-US" altLang="zh-TW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Power BI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144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611209"/>
            <a:ext cx="27432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摘要：研究背景與核心發現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527395"/>
            <a:ext cx="4929188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台灣通訊系統高度依賴地面基地台與海底電纜，一旦面臨天然災害或人為蓄意破壞，基礎設施極易失效。本研究旨在評估低軌衛星（LEO）作為「多層次通訊架構」中關鍵備援方案的可行性。</a:t>
            </a:r>
            <a:endParaRPr lang="en-US" sz="10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2620389"/>
            <a:ext cx="114300" cy="1143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081" y="2584670"/>
            <a:ext cx="3307556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研究方法：</a:t>
            </a: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結合 Starlink TLE 軌道資料與 Power BI 視覺化分析。</a:t>
            </a:r>
            <a:endParaRPr lang="en-US" sz="8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2963289"/>
            <a:ext cx="114300" cy="1143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50081" y="2927570"/>
            <a:ext cx="274320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關鍵定位：</a:t>
            </a: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補強傳統基地台在偏鄉與災區的連線能力。</a:t>
            </a:r>
            <a:endParaRPr lang="en-US" sz="8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3306189"/>
            <a:ext cx="114300" cy="11430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50081" y="3270470"/>
            <a:ext cx="297180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最終建議：</a:t>
            </a: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作為備援與補充方案，而非完全取代現有網路。</a:t>
            </a:r>
            <a:endParaRPr lang="en-US" sz="800" dirty="0"/>
          </a:p>
        </p:txBody>
      </p:sp>
      <p:sp>
        <p:nvSpPr>
          <p:cNvPr id="11" name="Shape 5"/>
          <p:cNvSpPr/>
          <p:nvPr/>
        </p:nvSpPr>
        <p:spPr>
          <a:xfrm>
            <a:off x="5357813" y="-7144"/>
            <a:ext cx="3786188" cy="5143500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12" name="Shape 6"/>
          <p:cNvSpPr/>
          <p:nvPr/>
        </p:nvSpPr>
        <p:spPr>
          <a:xfrm>
            <a:off x="5643563" y="707231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3" name="Text 7"/>
          <p:cNvSpPr/>
          <p:nvPr/>
        </p:nvSpPr>
        <p:spPr>
          <a:xfrm>
            <a:off x="5857875" y="921544"/>
            <a:ext cx="3000375" cy="377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97.02%</a:t>
            </a:r>
            <a:endParaRPr lang="en-US" sz="2450" dirty="0"/>
          </a:p>
        </p:txBody>
      </p:sp>
      <p:sp>
        <p:nvSpPr>
          <p:cNvPr id="14" name="Text 8"/>
          <p:cNvSpPr/>
          <p:nvPr/>
        </p:nvSpPr>
        <p:spPr>
          <a:xfrm>
            <a:off x="5857875" y="1394817"/>
            <a:ext cx="300037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台灣上空衛星可用度</a:t>
            </a:r>
            <a:endParaRPr lang="en-US" sz="850" dirty="0"/>
          </a:p>
        </p:txBody>
      </p:sp>
      <p:sp>
        <p:nvSpPr>
          <p:cNvPr id="15" name="Shape 9"/>
          <p:cNvSpPr/>
          <p:nvPr/>
        </p:nvSpPr>
        <p:spPr>
          <a:xfrm>
            <a:off x="5643563" y="1921669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6" name="Text 10"/>
          <p:cNvSpPr/>
          <p:nvPr/>
        </p:nvSpPr>
        <p:spPr>
          <a:xfrm>
            <a:off x="5857875" y="2135981"/>
            <a:ext cx="300037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LEO</a:t>
            </a:r>
            <a:endParaRPr lang="en-US" sz="2450" dirty="0"/>
          </a:p>
        </p:txBody>
      </p:sp>
      <p:sp>
        <p:nvSpPr>
          <p:cNvPr id="17" name="Text 11"/>
          <p:cNvSpPr/>
          <p:nvPr/>
        </p:nvSpPr>
        <p:spPr>
          <a:xfrm>
            <a:off x="5857875" y="2609255"/>
            <a:ext cx="300037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低延遲、廣域覆蓋特性</a:t>
            </a:r>
            <a:endParaRPr lang="en-US" sz="850" dirty="0"/>
          </a:p>
        </p:txBody>
      </p:sp>
      <p:sp>
        <p:nvSpPr>
          <p:cNvPr id="18" name="Shape 12"/>
          <p:cNvSpPr/>
          <p:nvPr/>
        </p:nvSpPr>
        <p:spPr>
          <a:xfrm>
            <a:off x="5643563" y="3136106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9" name="Text 13"/>
          <p:cNvSpPr/>
          <p:nvPr/>
        </p:nvSpPr>
        <p:spPr>
          <a:xfrm>
            <a:off x="5857875" y="3350419"/>
            <a:ext cx="300037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Starlink</a:t>
            </a:r>
            <a:endParaRPr lang="en-US" sz="2450" dirty="0"/>
          </a:p>
        </p:txBody>
      </p:sp>
      <p:sp>
        <p:nvSpPr>
          <p:cNvPr id="20" name="Text 14"/>
          <p:cNvSpPr/>
          <p:nvPr/>
        </p:nvSpPr>
        <p:spPr>
          <a:xfrm>
            <a:off x="5857875" y="3823692"/>
            <a:ext cx="300037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核心分析對象系統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27432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7432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27432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導論：研究動機與應用場景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591689"/>
            <a:ext cx="2571750" cy="30718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219" y="1833683"/>
            <a:ext cx="171450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4394" y="1806001"/>
            <a:ext cx="100548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LEO 核心特性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892969" y="2211409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低延遲：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軌道高度約 550km，傳輸延遲極低。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892969" y="276572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廣域覆蓋：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不受地形限制，實現全台無死角連線。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92969" y="332003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快速部署：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無需地面線路，災後可迅速建立通訊。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3286125" y="1591689"/>
            <a:ext cx="2571750" cy="30718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892969" y="2211409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892969" y="276572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892969" y="332003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4719" y="1833683"/>
            <a:ext cx="171450" cy="1714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721894" y="1806001"/>
            <a:ext cx="110013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台灣現況與政策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3750469" y="2211409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政府積極推動</a:t>
            </a: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通訊韌性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建設，強化數位國家安全。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3750469" y="276572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中華電信與 OneWeb 合作建置地面站。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3750469" y="332003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評估多軌道、多供應商之衛星通訊架構。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143625" y="1591689"/>
            <a:ext cx="2571750" cy="30718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3750469" y="2211409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750469" y="276572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3750469" y="332003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2219" y="1833683"/>
            <a:ext cx="192881" cy="17145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600825" y="1806001"/>
            <a:ext cx="94297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關鍵應用場景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607969" y="2211409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偏鄉離島：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解決數位落差，提供穩定網路服務。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607969" y="276572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緊急救援：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地震或停電導致基地台失效時的備援。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6607969" y="332003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斷纜備援：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海底電纜中斷時維持關鍵數據鏈路。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6607969" y="2211409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607969" y="276572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6607969" y="332003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16002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挑戰與預期目標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687237"/>
            <a:ext cx="200025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50119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面臨挑戰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8" y="2157831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7250" y="2125684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法規層面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642938" y="2404290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外資持股比例限制、頻譜使用授權及地面站建置規範等現行法規要求。</a:t>
            </a:r>
            <a:endParaRPr lang="en-US" sz="9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8" y="3039359"/>
            <a:ext cx="160734" cy="1428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75109" y="3007212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技術層面</a:t>
            </a:r>
            <a:endParaRPr lang="en-US" sz="1000" dirty="0"/>
          </a:p>
        </p:txBody>
      </p:sp>
      <p:sp>
        <p:nvSpPr>
          <p:cNvPr id="14" name="Text 8"/>
          <p:cNvSpPr/>
          <p:nvPr/>
        </p:nvSpPr>
        <p:spPr>
          <a:xfrm>
            <a:off x="642938" y="328581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地形遮蔽、大氣傳播效應及仰角動態變化對訊號品質與連線穩定性的影響。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86313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0625" y="1687237"/>
            <a:ext cx="200025" cy="2000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307806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預期目標</a:t>
            </a:r>
            <a:endParaRPr lang="en-US" sz="12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0625" y="2157831"/>
            <a:ext cx="160734" cy="14287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232797" y="2125684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視覺化分析</a:t>
            </a:r>
            <a:endParaRPr lang="en-US" sz="1000" dirty="0"/>
          </a:p>
        </p:txBody>
      </p:sp>
      <p:sp>
        <p:nvSpPr>
          <p:cNvPr id="20" name="Text 12"/>
          <p:cNvSpPr/>
          <p:nvPr/>
        </p:nvSpPr>
        <p:spPr>
          <a:xfrm>
            <a:off x="5000625" y="2404290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建立 Power BI 互動式儀表板，整合衛星軌道、觀測站資訊及通訊品質指標。</a:t>
            </a:r>
            <a:endParaRPr lang="en-US" sz="9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0625" y="3039359"/>
            <a:ext cx="142875" cy="14287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214938" y="3007212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情境模擬</a:t>
            </a:r>
            <a:endParaRPr lang="en-US" sz="1000" dirty="0"/>
          </a:p>
        </p:txBody>
      </p:sp>
      <p:sp>
        <p:nvSpPr>
          <p:cNvPr id="23" name="Text 14"/>
          <p:cNvSpPr/>
          <p:nvPr/>
        </p:nvSpPr>
        <p:spPr>
          <a:xfrm>
            <a:off x="5000625" y="328581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模擬基地台失效與海纜中斷情境，驗證低軌衛星維持穩定通訊服務的能力。</a:t>
            </a:r>
            <a:endParaRPr lang="en-US" sz="9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00625" y="3920886"/>
            <a:ext cx="142875" cy="14287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14938" y="3888739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價值驗證</a:t>
            </a:r>
            <a:endParaRPr lang="en-US" sz="1000" dirty="0"/>
          </a:p>
        </p:txBody>
      </p:sp>
      <p:sp>
        <p:nvSpPr>
          <p:cNvPr id="26" name="Text 16"/>
          <p:cNvSpPr/>
          <p:nvPr/>
        </p:nvSpPr>
        <p:spPr>
          <a:xfrm>
            <a:off x="5000625" y="4167346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量化評估衛星覆蓋特性，驗證其在提升台灣通訊韌性方面的應用價值。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25146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5146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25146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實驗設計與資料處理流程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663126"/>
            <a:ext cx="2482453" cy="29575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428625" y="1663126"/>
            <a:ext cx="2482453" cy="28575"/>
          </a:xfrm>
          <a:prstGeom prst="rect">
            <a:avLst/>
          </a:prstGeom>
          <a:solidFill>
            <a:srgbClr val="00C9FF"/>
          </a:solidFill>
          <a:ln/>
        </p:spPr>
      </p:sp>
      <p:sp>
        <p:nvSpPr>
          <p:cNvPr id="8" name="Text 5"/>
          <p:cNvSpPr/>
          <p:nvPr/>
        </p:nvSpPr>
        <p:spPr>
          <a:xfrm>
            <a:off x="2396728" y="1734564"/>
            <a:ext cx="371475" cy="4375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>
                    <a:alpha val="20000"/>
                  </a:srgbClr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01</a:t>
            </a:r>
            <a:endParaRPr lang="en-US" sz="24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219" y="1905121"/>
            <a:ext cx="150019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2963" y="1877439"/>
            <a:ext cx="62865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資料來源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07219" y="2282847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取得 Starlink 公開之 </a:t>
            </a:r>
            <a:r>
              <a:rPr lang="en-US" sz="85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TLE (Two-Line Element)</a:t>
            </a: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軌道資料。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07219" y="2802889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整合「Starlink_Taiwan_Complete」預處理資料集。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607219" y="3322932"/>
            <a:ext cx="2125266" cy="20644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設定台中觀測站為固定模擬座標。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607219" y="2282847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07219" y="2802889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07219" y="3322932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3953" y="2949001"/>
            <a:ext cx="133945" cy="21431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330773" y="1663126"/>
            <a:ext cx="2482453" cy="29575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3330773" y="1663126"/>
            <a:ext cx="2482453" cy="28575"/>
          </a:xfrm>
          <a:prstGeom prst="rect">
            <a:avLst/>
          </a:prstGeom>
          <a:solidFill>
            <a:srgbClr val="00C9FF"/>
          </a:solidFill>
          <a:ln/>
        </p:spPr>
      </p:sp>
      <p:sp>
        <p:nvSpPr>
          <p:cNvPr id="20" name="Text 15"/>
          <p:cNvSpPr/>
          <p:nvPr/>
        </p:nvSpPr>
        <p:spPr>
          <a:xfrm>
            <a:off x="5243513" y="1734564"/>
            <a:ext cx="426839" cy="4375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>
                    <a:alpha val="20000"/>
                  </a:srgbClr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02</a:t>
            </a:r>
            <a:endParaRPr lang="en-US" sz="24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9367" y="1905121"/>
            <a:ext cx="150019" cy="1714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3745111" y="1877439"/>
            <a:ext cx="127337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Python 核心運算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3509367" y="2282847"/>
            <a:ext cx="2125266" cy="20644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計算衛星經緯度、高度與運行速度。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3509367" y="2596446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模擬地面站幾何關係：</a:t>
            </a:r>
            <a:r>
              <a:rPr lang="en-US" sz="85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 (Elevation)</a:t>
            </a: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與方位角。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3509367" y="3116489"/>
            <a:ext cx="2125266" cy="20644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篩選仰角 </a:t>
            </a:r>
            <a:r>
              <a:rPr lang="en-US" sz="85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 25°</a:t>
            </a: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之可用衛星數據。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3509367" y="2282847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3509367" y="2596446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3509367" y="3116489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102" y="2949001"/>
            <a:ext cx="133945" cy="214313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6232922" y="1663126"/>
            <a:ext cx="2482453" cy="29575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31" name="Shape 24"/>
          <p:cNvSpPr/>
          <p:nvPr/>
        </p:nvSpPr>
        <p:spPr>
          <a:xfrm>
            <a:off x="6232922" y="1663126"/>
            <a:ext cx="2482453" cy="28575"/>
          </a:xfrm>
          <a:prstGeom prst="rect">
            <a:avLst/>
          </a:prstGeom>
          <a:solidFill>
            <a:srgbClr val="00C9FF"/>
          </a:solidFill>
          <a:ln/>
        </p:spPr>
      </p:sp>
      <p:sp>
        <p:nvSpPr>
          <p:cNvPr id="32" name="Text 25"/>
          <p:cNvSpPr/>
          <p:nvPr/>
        </p:nvSpPr>
        <p:spPr>
          <a:xfrm>
            <a:off x="8143875" y="1734564"/>
            <a:ext cx="428625" cy="4375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>
                    <a:alpha val="20000"/>
                  </a:srgbClr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03</a:t>
            </a:r>
            <a:endParaRPr lang="en-US" sz="245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1516" y="1905121"/>
            <a:ext cx="171450" cy="17145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668691" y="1877439"/>
            <a:ext cx="110192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Power BI 建模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6411516" y="2282847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匯入運算結果，建立多維度資料模型。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6411516" y="2802889"/>
            <a:ext cx="2125266" cy="20644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撰寫 </a:t>
            </a:r>
            <a:r>
              <a:rPr lang="en-US" sz="85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DAX 量測值</a:t>
            </a: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計算 KPI 指標。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6411516" y="3116489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模擬基地台失效與海纜中斷之極端情境。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6411516" y="2282847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6411516" y="2802889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6411516" y="3116489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7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2596753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596753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2596753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分析方法與 KPI 指標定義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28625" y="1434526"/>
            <a:ext cx="8286750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本研究採用描述性統計與時空分析，結合 Power BI 建立多項關鍵績效指標 (KPI)，以量化評估 Starlink 系統於台灣地區的通訊效能與覆蓋能力。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28625" y="1929566"/>
            <a:ext cx="1151595" cy="385763"/>
          </a:xfrm>
          <a:prstGeom prst="rect">
            <a:avLst/>
          </a:prstGeom>
          <a:solidFill>
            <a:srgbClr val="00F2FF">
              <a:alpha val="10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428625" y="1929566"/>
            <a:ext cx="1151595" cy="7144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9" name="Text 6"/>
          <p:cNvSpPr/>
          <p:nvPr/>
        </p:nvSpPr>
        <p:spPr>
          <a:xfrm>
            <a:off x="428625" y="1929566"/>
            <a:ext cx="1151595" cy="385763"/>
          </a:xfrm>
          <a:prstGeom prst="rect">
            <a:avLst/>
          </a:prstGeom>
          <a:noFill/>
          <a:ln/>
        </p:spPr>
        <p:txBody>
          <a:bodyPr wrap="none" lIns="127508" tIns="127508" rIns="127508" bIns="127508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關鍵指標 (KPI)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580220" y="1929566"/>
            <a:ext cx="4206218" cy="385763"/>
          </a:xfrm>
          <a:prstGeom prst="rect">
            <a:avLst/>
          </a:prstGeom>
          <a:solidFill>
            <a:srgbClr val="00F2FF">
              <a:alpha val="1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1580220" y="1929566"/>
            <a:ext cx="4206218" cy="7144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12" name="Text 9"/>
          <p:cNvSpPr/>
          <p:nvPr/>
        </p:nvSpPr>
        <p:spPr>
          <a:xfrm>
            <a:off x="1580220" y="1929566"/>
            <a:ext cx="4206218" cy="385763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定義與通訊意義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35781" y="2522162"/>
            <a:ext cx="6858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可用衛星數量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580220" y="2308185"/>
            <a:ext cx="4206218" cy="566561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仰角大於 25 度之可連線衛星總數，代表系統冗餘度。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35781" y="3088723"/>
            <a:ext cx="4572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平均仰角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580220" y="2874745"/>
            <a:ext cx="4206218" cy="566561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所有可見衛星之平均高度角，越高代表訊號路徑越短、品質越佳。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35781" y="3655284"/>
            <a:ext cx="6858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最近衛星距離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580220" y="3441306"/>
            <a:ext cx="4206218" cy="566561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地面站與最近衛星之直線距離，直接影響傳輸延遲。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35781" y="4221007"/>
            <a:ext cx="6858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通訊品質評分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580220" y="4007867"/>
            <a:ext cx="4206218" cy="561315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綜合考量數量、距離與仰角之 DAX 動態評分模型。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6072188" y="2854682"/>
            <a:ext cx="2928938" cy="78581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6072188" y="2854682"/>
            <a:ext cx="2928938" cy="714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27" name="Text 24"/>
          <p:cNvSpPr/>
          <p:nvPr/>
        </p:nvSpPr>
        <p:spPr>
          <a:xfrm>
            <a:off x="6250781" y="2997557"/>
            <a:ext cx="2750344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平均仰角目標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250781" y="3177936"/>
            <a:ext cx="2750344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&gt; 25 度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72188" y="3783369"/>
            <a:ext cx="2928938" cy="78581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6072188" y="3783369"/>
            <a:ext cx="2928938" cy="714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50781" y="3926244"/>
            <a:ext cx="2750344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最近距離目標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6250781" y="4106624"/>
            <a:ext cx="2750344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&lt; 550公里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828675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828675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828675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系統架構：四層分析模型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00125" y="1377376"/>
            <a:ext cx="7143750" cy="714375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1000125" y="1377376"/>
            <a:ext cx="7143750" cy="7144"/>
          </a:xfrm>
          <a:prstGeom prst="rect">
            <a:avLst/>
          </a:prstGeom>
          <a:solidFill>
            <a:srgbClr val="B3FBFF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75" y="1698845"/>
            <a:ext cx="192881" cy="1714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71613" y="1680986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視覺化展示層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957513" y="1591689"/>
            <a:ext cx="358616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互動式儀表板、衛星空間分布地圖、即時關鍵指標卡片、趨勢折線圖。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6543675" y="1711347"/>
            <a:ext cx="14287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C9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Power BI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1000125" y="2177476"/>
            <a:ext cx="7143750" cy="714375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1000125" y="2177476"/>
            <a:ext cx="7143750" cy="7144"/>
          </a:xfrm>
          <a:prstGeom prst="rect">
            <a:avLst/>
          </a:prstGeom>
          <a:solidFill>
            <a:srgbClr val="B3FBFF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575" y="2498945"/>
            <a:ext cx="128588" cy="1714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07319" y="2481086"/>
            <a:ext cx="4286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分析層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2957513" y="2391789"/>
            <a:ext cx="358616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建立 DAX 量測值、通訊品質門檻判定、KPI 指標計算（可用衛星數、平均仰角）。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6543675" y="2511447"/>
            <a:ext cx="14287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C9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DAX / KPI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1000125" y="2977576"/>
            <a:ext cx="7143750" cy="714375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1000125" y="2977576"/>
            <a:ext cx="7143750" cy="7144"/>
          </a:xfrm>
          <a:prstGeom prst="rect">
            <a:avLst/>
          </a:prstGeom>
          <a:solidFill>
            <a:srgbClr val="B3FBF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1575" y="3299045"/>
            <a:ext cx="214313" cy="17145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93044" y="3281186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資料處理層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2957513" y="3191889"/>
            <a:ext cx="358616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衛星軌道幾何運算、經緯度與高度計算、仰角與方位角模擬、資料清洗與轉換。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6543675" y="3311547"/>
            <a:ext cx="1428750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C9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Python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1000125" y="3777676"/>
            <a:ext cx="7143750" cy="714375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sp>
        <p:nvSpPr>
          <p:cNvPr id="25" name="Shape 19"/>
          <p:cNvSpPr/>
          <p:nvPr/>
        </p:nvSpPr>
        <p:spPr>
          <a:xfrm>
            <a:off x="1000125" y="3777676"/>
            <a:ext cx="7143750" cy="7144"/>
          </a:xfrm>
          <a:prstGeom prst="rect">
            <a:avLst/>
          </a:prstGeom>
          <a:solidFill>
            <a:srgbClr val="B3FBF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575" y="4099145"/>
            <a:ext cx="150019" cy="1714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28750" y="4081286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資料蒐集層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2957513" y="3991989"/>
            <a:ext cx="358616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取得 Starlink 衛星公開之 TLE (Two-Line Element) 軌道資料、地面觀測站座標資訊。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6543675" y="4111647"/>
            <a:ext cx="14287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C9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TLE Data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618353"/>
            <a:ext cx="34290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實驗呈現：衛星分布與可用度分析</a:t>
            </a:r>
            <a:endParaRPr lang="en-US" sz="1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1426490"/>
            <a:ext cx="157163" cy="15716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71513" y="1391664"/>
            <a:ext cx="94297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空間分布觀測</a:t>
            </a:r>
            <a:endParaRPr lang="en-US" sz="1150" dirty="0"/>
          </a:p>
        </p:txBody>
      </p:sp>
      <p:sp>
        <p:nvSpPr>
          <p:cNvPr id="6" name="Text 2"/>
          <p:cNvSpPr/>
          <p:nvPr/>
        </p:nvSpPr>
        <p:spPr>
          <a:xfrm>
            <a:off x="428625" y="1761353"/>
            <a:ext cx="4572000" cy="655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地圖視覺化結果顯示，Starlink 衛星於臺灣上空具有</a:t>
            </a:r>
            <a:r>
              <a:rPr lang="en-US" sz="900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持續性的覆蓋能力</a:t>
            </a: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。於觀測期間內，多數時間皆可觀察到多顆衛星同時位於可通訊範圍內，確保了連線的冗餘度。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2773394"/>
            <a:ext cx="157163" cy="15716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71513" y="2738568"/>
            <a:ext cx="194845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手遞切換 (Handover) 驗證</a:t>
            </a:r>
            <a:endParaRPr lang="en-US" sz="1150" dirty="0"/>
          </a:p>
        </p:txBody>
      </p:sp>
      <p:sp>
        <p:nvSpPr>
          <p:cNvPr id="9" name="Text 4"/>
          <p:cNvSpPr/>
          <p:nvPr/>
        </p:nvSpPr>
        <p:spPr>
          <a:xfrm>
            <a:off x="428625" y="3108257"/>
            <a:ext cx="4572000" cy="655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低軌衛星星系具備透過衛星接續切換維持服務連續性的能力。雖然單一衛星持續沿軌道高速運行，但整體而言仍能維持</a:t>
            </a:r>
            <a:r>
              <a:rPr lang="en-US" sz="900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穩定的覆蓋狀態</a:t>
            </a: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，不會因單一衛星離開而斷訊。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000625" y="0"/>
            <a:ext cx="4143375" cy="5143500"/>
          </a:xfrm>
          <a:prstGeom prst="rect">
            <a:avLst/>
          </a:prstGeom>
          <a:solidFill>
            <a:srgbClr val="00F2FF">
              <a:alpha val="2000"/>
            </a:srgbClr>
          </a:solidFill>
          <a:ln/>
        </p:spPr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6375" y="463451"/>
            <a:ext cx="157163" cy="15716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29263" y="428625"/>
            <a:ext cx="125730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通訊品質正相關性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5286375" y="798314"/>
            <a:ext cx="3429000" cy="655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研究觀察衛星過境期間之仰角、距離及訊號強度變化。結果顯示，訊號強度與仰角變化具有明顯</a:t>
            </a:r>
            <a:r>
              <a:rPr lang="en-US" sz="900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正相關關係</a:t>
            </a: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，符合衛星通訊理論預期。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5286375" y="1596935"/>
            <a:ext cx="3429000" cy="857250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6" name="Text 10"/>
          <p:cNvSpPr/>
          <p:nvPr/>
        </p:nvSpPr>
        <p:spPr>
          <a:xfrm>
            <a:off x="5463183" y="1887060"/>
            <a:ext cx="3250406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仰角越高 ↔ 訊號越強</a:t>
            </a:r>
            <a:endParaRPr lang="en-US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86375" y="2810480"/>
            <a:ext cx="176808" cy="15716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548908" y="2775654"/>
            <a:ext cx="110013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覆蓋連續性結論</a:t>
            </a:r>
            <a:endParaRPr lang="en-US" sz="1150" dirty="0"/>
          </a:p>
        </p:txBody>
      </p:sp>
      <p:sp>
        <p:nvSpPr>
          <p:cNvPr id="19" name="Text 12"/>
          <p:cNvSpPr/>
          <p:nvPr/>
        </p:nvSpPr>
        <p:spPr>
          <a:xfrm>
            <a:off x="5286375" y="3145343"/>
            <a:ext cx="3429000" cy="655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當衛星自地平線升起並接近天頂時，仰角增加且距離縮短，此時通訊品質達到最佳狀態。高仰角有助於提升通訊品質，減少大氣干擾。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24066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29718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9718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29718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深度分析：單一衛星過境特徵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305939"/>
            <a:ext cx="8286750" cy="250031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520251"/>
            <a:ext cx="7858125" cy="214312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4274167"/>
            <a:ext cx="178594" cy="14287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78656" y="4242020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拋物線軌跡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428625" y="4563489"/>
            <a:ext cx="2619356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衛星過境時，仰角隨時間呈現完美的</a:t>
            </a: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拋物線變化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。從地平線升起、掠過天頂、最後沒入地平線，精準還原 LEO 高速移動特徵。</a:t>
            </a:r>
            <a:endParaRPr lang="en-US" sz="8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2294" y="4274167"/>
            <a:ext cx="107156" cy="14287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440888" y="4242020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訊號即時響應</a:t>
            </a:r>
            <a:endParaRPr lang="en-US" sz="1050" dirty="0"/>
          </a:p>
        </p:txBody>
      </p:sp>
      <p:sp>
        <p:nvSpPr>
          <p:cNvPr id="13" name="Text 7"/>
          <p:cNvSpPr/>
          <p:nvPr/>
        </p:nvSpPr>
        <p:spPr>
          <a:xfrm>
            <a:off x="3262294" y="4563489"/>
            <a:ext cx="2619384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當衛星接近天頂（仰角 &gt; 80°）時，訊號強度同步達到峰值（約 85%）。驗證了</a:t>
            </a: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高仰角 = 低損耗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的空間通訊理論。</a:t>
            </a:r>
            <a:endParaRPr lang="en-US" sz="8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1" y="4274167"/>
            <a:ext cx="142875" cy="14287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310303" y="4242020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物理特徵驗證</a:t>
            </a:r>
            <a:endParaRPr lang="en-US" sz="1050" dirty="0"/>
          </a:p>
        </p:txBody>
      </p:sp>
      <p:sp>
        <p:nvSpPr>
          <p:cNvPr id="16" name="Text 9"/>
          <p:cNvSpPr/>
          <p:nvPr/>
        </p:nvSpPr>
        <p:spPr>
          <a:xfrm>
            <a:off x="6095991" y="4563489"/>
            <a:ext cx="2619356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仰角越高，與地面站直線距離最短、穿透大氣層最薄。此實驗數據為衛星通訊的</a:t>
            </a: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穩定性評估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提供了堅實的物理依據。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34290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34290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34290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動態監控：通訊品質自動判定系統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377376"/>
            <a:ext cx="2619356" cy="1571625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428625" y="1377376"/>
            <a:ext cx="2619356" cy="28575"/>
          </a:xfrm>
          <a:prstGeom prst="rect">
            <a:avLst/>
          </a:prstGeom>
          <a:solidFill>
            <a:srgbClr val="00C9FF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616692"/>
            <a:ext cx="114300" cy="1143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8675" y="1591689"/>
            <a:ext cx="5715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可用衛星數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642938" y="1863151"/>
            <a:ext cx="2190731" cy="580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3 - 6 顆</a:t>
            </a:r>
            <a:endParaRPr lang="en-US" sz="2850" dirty="0"/>
          </a:p>
        </p:txBody>
      </p:sp>
      <p:sp>
        <p:nvSpPr>
          <p:cNvPr id="11" name="Text 7"/>
          <p:cNvSpPr/>
          <p:nvPr/>
        </p:nvSpPr>
        <p:spPr>
          <a:xfrm>
            <a:off x="642938" y="2550737"/>
            <a:ext cx="219073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動態交替切換 (Handover)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262294" y="1377376"/>
            <a:ext cx="2619384" cy="1571625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3262294" y="1377376"/>
            <a:ext cx="2619384" cy="28575"/>
          </a:xfrm>
          <a:prstGeom prst="rect">
            <a:avLst/>
          </a:prstGeom>
          <a:solidFill>
            <a:srgbClr val="00C9FF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6606" y="1616692"/>
            <a:ext cx="85725" cy="1143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33769" y="1591689"/>
            <a:ext cx="6858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衛星可用比例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3476606" y="1863151"/>
            <a:ext cx="2190759" cy="438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97.02%</a:t>
            </a:r>
            <a:endParaRPr lang="en-US" sz="2850" dirty="0"/>
          </a:p>
        </p:txBody>
      </p:sp>
      <p:sp>
        <p:nvSpPr>
          <p:cNvPr id="17" name="Text 12"/>
          <p:cNvSpPr/>
          <p:nvPr/>
        </p:nvSpPr>
        <p:spPr>
          <a:xfrm>
            <a:off x="3476606" y="2479300"/>
            <a:ext cx="2190759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高仰角觀測筆數占比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6095991" y="1377376"/>
            <a:ext cx="2619356" cy="1571625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095991" y="1377376"/>
            <a:ext cx="2619356" cy="28575"/>
          </a:xfrm>
          <a:prstGeom prst="rect">
            <a:avLst/>
          </a:prstGeom>
          <a:solidFill>
            <a:srgbClr val="00C9F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0303" y="1616692"/>
            <a:ext cx="114300" cy="1143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496041" y="1591689"/>
            <a:ext cx="6858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通訊品質狀態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310303" y="1863151"/>
            <a:ext cx="2190731" cy="580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良好</a:t>
            </a:r>
            <a:endParaRPr lang="en-US" sz="2850" dirty="0"/>
          </a:p>
        </p:txBody>
      </p:sp>
      <p:sp>
        <p:nvSpPr>
          <p:cNvPr id="23" name="Text 17"/>
          <p:cNvSpPr/>
          <p:nvPr/>
        </p:nvSpPr>
        <p:spPr>
          <a:xfrm>
            <a:off x="6310303" y="2550737"/>
            <a:ext cx="219073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DAX 即時二元判定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28625" y="3306189"/>
            <a:ext cx="8286750" cy="1643063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75" y="3555327"/>
            <a:ext cx="196453" cy="15716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96553" y="3520501"/>
            <a:ext cx="212883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DAX 自動判定邏輯與監控機制</a:t>
            </a:r>
            <a:endParaRPr lang="en-US" sz="115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375" y="3925909"/>
            <a:ext cx="128588" cy="58143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50119" y="3890190"/>
            <a:ext cx="347900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秒級動態監控：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採用每 10 秒展開的動態方塊清單，計算滿足高度可用門檻（仰角 &gt; 46°）的同時在空衛星總數。</a:t>
            </a:r>
            <a:endParaRPr lang="en-US" sz="95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4875" y="3925909"/>
            <a:ext cx="96441" cy="58143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918472" y="3890190"/>
            <a:ext cx="3511153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即時狀態跳轉：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系統抓取真實平均值與 75% 閥值比對。超過 75% 自動跳轉為「通訊良好」，杜絕數據遲滯。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16002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結論與未來展望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687237"/>
            <a:ext cx="150019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00113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研究總結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8" y="2157831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7250" y="2125684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高可用度驗證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642938" y="2404290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低軌衛星在模擬數據中展現近 100% 的高可用度，證實其作為台灣通訊韌性「最後一道防線」的潛力。</a:t>
            </a:r>
            <a:endParaRPr lang="en-US" sz="9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8" y="3039359"/>
            <a:ext cx="142875" cy="1428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57250" y="3007212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監控價值</a:t>
            </a:r>
            <a:endParaRPr lang="en-US" sz="1000" dirty="0"/>
          </a:p>
        </p:txBody>
      </p:sp>
      <p:sp>
        <p:nvSpPr>
          <p:cNvPr id="14" name="Text 8"/>
          <p:cNvSpPr/>
          <p:nvPr/>
        </p:nvSpPr>
        <p:spPr>
          <a:xfrm>
            <a:off x="642938" y="328581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透過 Power BI 儀表板能有效監控並量化通訊風險，實現全自動、高準確性的備援鏈路動態監控。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86313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0625" y="1687237"/>
            <a:ext cx="200025" cy="2000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307806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未來建議</a:t>
            </a:r>
            <a:endParaRPr lang="en-US" sz="12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0625" y="2157831"/>
            <a:ext cx="142875" cy="14287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214938" y="2125684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多層次架構</a:t>
            </a:r>
            <a:endParaRPr lang="en-US" sz="1000" dirty="0"/>
          </a:p>
        </p:txBody>
      </p:sp>
      <p:sp>
        <p:nvSpPr>
          <p:cNvPr id="20" name="Text 12"/>
          <p:cNvSpPr/>
          <p:nvPr/>
        </p:nvSpPr>
        <p:spPr>
          <a:xfrm>
            <a:off x="5000625" y="2404290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整合多軌道衛星 (GEO/MEO/LEO) 與地面行動網路，構建更具韌性的多層次通訊備援體系。</a:t>
            </a:r>
            <a:endParaRPr lang="en-US" sz="9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0625" y="3039359"/>
            <a:ext cx="178594" cy="14287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250656" y="3007212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法規與成本</a:t>
            </a:r>
            <a:endParaRPr lang="en-US" sz="1000" dirty="0"/>
          </a:p>
        </p:txBody>
      </p:sp>
      <p:sp>
        <p:nvSpPr>
          <p:cNvPr id="23" name="Text 14"/>
          <p:cNvSpPr/>
          <p:nvPr/>
        </p:nvSpPr>
        <p:spPr>
          <a:xfrm>
            <a:off x="5000625" y="328581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持續評估商業部署成本與法規開放進度，優化外資持股與頻譜使用政策，以利國際業者落地。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182541" y="1504987"/>
            <a:ext cx="2778919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415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謝謝聆聽</a:t>
            </a:r>
            <a:endParaRPr lang="en-US" sz="41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541" y="3846351"/>
            <a:ext cx="178594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446859" y="3814204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歡迎提問與交流</a:t>
            </a:r>
            <a:endParaRPr lang="en-US" sz="10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734" y="3846351"/>
            <a:ext cx="142875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961334" y="3814204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報告人：賴俊升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562</Words>
  <Application>Microsoft Office PowerPoint</Application>
  <PresentationFormat>如螢幕大小 (16:9)</PresentationFormat>
  <Paragraphs>164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Inter</vt:lpstr>
      <vt:lpstr>Space Grotesk Medium</vt:lpstr>
      <vt:lpstr>Arial</vt:lpstr>
      <vt:lpstr>Montserrat Bold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sheng lai</cp:lastModifiedBy>
  <cp:revision>6</cp:revision>
  <dcterms:created xsi:type="dcterms:W3CDTF">2026-06-02T09:55:54Z</dcterms:created>
  <dcterms:modified xsi:type="dcterms:W3CDTF">2026-06-02T12:01:38Z</dcterms:modified>
</cp:coreProperties>
</file>