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8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BF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756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jpe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43075" y="1683693"/>
            <a:ext cx="5657850" cy="662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kern="0" spc="2" dirty="0">
                <a:solidFill>
                  <a:srgbClr val="00F2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低軌衛星通訊備援分析報告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743075" y="2546300"/>
            <a:ext cx="5657850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以 Starlink 為例之通訊韌性評估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075" y="3082082"/>
            <a:ext cx="125016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68091" y="3072727"/>
            <a:ext cx="1630254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報告人：112111119</a:t>
            </a:r>
            <a:r>
              <a:rPr lang="en-US" altLang="zh-TW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賴俊升</a:t>
            </a:r>
            <a:endParaRPr lang="en-US" sz="1050" dirty="0"/>
          </a:p>
        </p:txBody>
      </p:sp>
      <p:sp>
        <p:nvSpPr>
          <p:cNvPr id="9" name="Shape 4"/>
          <p:cNvSpPr/>
          <p:nvPr/>
        </p:nvSpPr>
        <p:spPr>
          <a:xfrm>
            <a:off x="1743075" y="3471416"/>
            <a:ext cx="1185863" cy="294680"/>
          </a:xfrm>
          <a:prstGeom prst="roundRect">
            <a:avLst/>
          </a:prstGeom>
          <a:solidFill>
            <a:srgbClr val="00F2FF">
              <a:alpha val="10000"/>
            </a:srgbClr>
          </a:solidFill>
          <a:ln w="9144">
            <a:solidFill>
              <a:srgbClr val="00F2FF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1792042" y="3497817"/>
            <a:ext cx="1106457" cy="268279"/>
          </a:xfrm>
          <a:prstGeom prst="rect">
            <a:avLst/>
          </a:prstGeom>
          <a:noFill/>
          <a:ln/>
        </p:spPr>
        <p:txBody>
          <a:bodyPr wrap="none" lIns="170053" tIns="68072" rIns="170053" bIns="68072" rtlCol="0" anchor="t">
            <a:spAutoFit/>
          </a:bodyPr>
          <a:lstStyle/>
          <a:p>
            <a:pPr marL="0" indent="0" algn="ctr">
              <a:buNone/>
            </a:pPr>
            <a:r>
              <a:rPr lang="zh-TW" altLang="en-US" sz="850" dirty="0">
                <a:solidFill>
                  <a:srgbClr val="00F2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低地球軌道衛星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3000375" y="3471416"/>
            <a:ext cx="1143000" cy="294680"/>
          </a:xfrm>
          <a:prstGeom prst="roundRect">
            <a:avLst/>
          </a:prstGeom>
          <a:solidFill>
            <a:srgbClr val="00F2FF">
              <a:alpha val="10000"/>
            </a:srgbClr>
          </a:solidFill>
          <a:ln w="9144">
            <a:solidFill>
              <a:srgbClr val="00F2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8"/>
          <p:cNvSpPr/>
          <p:nvPr/>
        </p:nvSpPr>
        <p:spPr>
          <a:xfrm>
            <a:off x="4214813" y="3471416"/>
            <a:ext cx="985838" cy="294680"/>
          </a:xfrm>
          <a:prstGeom prst="roundRect">
            <a:avLst/>
          </a:prstGeom>
          <a:solidFill>
            <a:srgbClr val="00F2FF">
              <a:alpha val="10000"/>
            </a:srgbClr>
          </a:solidFill>
          <a:ln w="9144">
            <a:solidFill>
              <a:srgbClr val="00F2FF"/>
            </a:solidFill>
            <a:prstDash val="solid"/>
          </a:ln>
        </p:spPr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FEB59BE1-1F63-8611-D94B-B5B6BE60ADFB}"/>
              </a:ext>
            </a:extLst>
          </p:cNvPr>
          <p:cNvSpPr/>
          <p:nvPr/>
        </p:nvSpPr>
        <p:spPr>
          <a:xfrm>
            <a:off x="6486527" y="3476476"/>
            <a:ext cx="1143000" cy="294680"/>
          </a:xfrm>
          <a:prstGeom prst="roundRect">
            <a:avLst/>
          </a:prstGeom>
          <a:solidFill>
            <a:srgbClr val="00F2FF">
              <a:alpha val="10000"/>
            </a:srgbClr>
          </a:solidFill>
          <a:ln w="9144">
            <a:solidFill>
              <a:srgbClr val="00F2FF"/>
            </a:solidFill>
            <a:prstDash val="solid"/>
          </a:ln>
        </p:spPr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25BDA9AD-5421-0708-B0BC-1DD096D60BAD}"/>
              </a:ext>
            </a:extLst>
          </p:cNvPr>
          <p:cNvSpPr/>
          <p:nvPr/>
        </p:nvSpPr>
        <p:spPr>
          <a:xfrm>
            <a:off x="5272089" y="3471416"/>
            <a:ext cx="1143000" cy="294680"/>
          </a:xfrm>
          <a:prstGeom prst="roundRect">
            <a:avLst/>
          </a:prstGeom>
          <a:solidFill>
            <a:srgbClr val="00F2FF">
              <a:alpha val="10000"/>
            </a:srgbClr>
          </a:solidFill>
          <a:ln w="9144">
            <a:solidFill>
              <a:srgbClr val="00F2FF"/>
            </a:solidFill>
            <a:prstDash val="solid"/>
          </a:ln>
        </p:spPr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276B6B5E-1026-70E2-0224-86E01DB02C07}"/>
              </a:ext>
            </a:extLst>
          </p:cNvPr>
          <p:cNvSpPr/>
          <p:nvPr/>
        </p:nvSpPr>
        <p:spPr>
          <a:xfrm>
            <a:off x="3198675" y="3504049"/>
            <a:ext cx="779444" cy="268279"/>
          </a:xfrm>
          <a:prstGeom prst="rect">
            <a:avLst/>
          </a:prstGeom>
          <a:noFill/>
          <a:ln/>
        </p:spPr>
        <p:txBody>
          <a:bodyPr wrap="none" lIns="170053" tIns="68072" rIns="170053" bIns="68072" rtlCol="0" anchor="t">
            <a:spAutoFit/>
          </a:bodyPr>
          <a:lstStyle/>
          <a:p>
            <a:pPr marL="0" indent="0" algn="ctr">
              <a:buNone/>
            </a:pPr>
            <a:r>
              <a:rPr lang="zh-TW" altLang="en-US" sz="850" dirty="0">
                <a:solidFill>
                  <a:srgbClr val="00F2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星鏈計畫</a:t>
            </a:r>
            <a:endParaRPr lang="en-US" sz="85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0A94ECE1-021B-AF1B-1BEB-62E7A8C57371}"/>
              </a:ext>
            </a:extLst>
          </p:cNvPr>
          <p:cNvSpPr/>
          <p:nvPr/>
        </p:nvSpPr>
        <p:spPr>
          <a:xfrm>
            <a:off x="4338664" y="3496712"/>
            <a:ext cx="779444" cy="268279"/>
          </a:xfrm>
          <a:prstGeom prst="rect">
            <a:avLst/>
          </a:prstGeom>
          <a:noFill/>
          <a:ln/>
        </p:spPr>
        <p:txBody>
          <a:bodyPr wrap="none" lIns="170053" tIns="68072" rIns="170053" bIns="68072" rtlCol="0" anchor="t">
            <a:spAutoFit/>
          </a:bodyPr>
          <a:lstStyle/>
          <a:p>
            <a:pPr marL="0" indent="0" algn="ctr">
              <a:buNone/>
            </a:pPr>
            <a:r>
              <a:rPr lang="zh-TW" altLang="en-US" sz="850" dirty="0">
                <a:solidFill>
                  <a:srgbClr val="00F2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通訊備援</a:t>
            </a:r>
            <a:endParaRPr lang="en-US" sz="850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2B4A89AE-905B-4447-1E54-10BC5FE07ADF}"/>
              </a:ext>
            </a:extLst>
          </p:cNvPr>
          <p:cNvSpPr/>
          <p:nvPr/>
        </p:nvSpPr>
        <p:spPr>
          <a:xfrm>
            <a:off x="5511794" y="3480523"/>
            <a:ext cx="779444" cy="268279"/>
          </a:xfrm>
          <a:prstGeom prst="rect">
            <a:avLst/>
          </a:prstGeom>
          <a:noFill/>
          <a:ln/>
        </p:spPr>
        <p:txBody>
          <a:bodyPr wrap="none" lIns="170053" tIns="68072" rIns="170053" bIns="68072" rtlCol="0" anchor="t">
            <a:spAutoFit/>
          </a:bodyPr>
          <a:lstStyle/>
          <a:p>
            <a:pPr marL="0" indent="0" algn="ctr">
              <a:buNone/>
            </a:pPr>
            <a:r>
              <a:rPr lang="zh-TW" altLang="en-US" sz="850" dirty="0">
                <a:solidFill>
                  <a:srgbClr val="00F2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通訊韌性</a:t>
            </a:r>
            <a:endParaRPr lang="en-US" sz="850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A9BEED6A-ED7B-B50E-62C6-756BA05C6AF8}"/>
              </a:ext>
            </a:extLst>
          </p:cNvPr>
          <p:cNvSpPr/>
          <p:nvPr/>
        </p:nvSpPr>
        <p:spPr>
          <a:xfrm>
            <a:off x="6661555" y="3480097"/>
            <a:ext cx="739370" cy="268279"/>
          </a:xfrm>
          <a:prstGeom prst="rect">
            <a:avLst/>
          </a:prstGeom>
          <a:noFill/>
          <a:ln/>
        </p:spPr>
        <p:txBody>
          <a:bodyPr wrap="none" lIns="170053" tIns="68072" rIns="170053" bIns="68072" rtlCol="0" anchor="t">
            <a:spAutoFit/>
          </a:bodyPr>
          <a:lstStyle/>
          <a:p>
            <a:pPr marL="0" indent="0" algn="ctr">
              <a:buNone/>
            </a:pPr>
            <a:r>
              <a:rPr lang="en-US" altLang="zh-TW" sz="850" dirty="0">
                <a:solidFill>
                  <a:srgbClr val="00F2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Power BI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611209"/>
            <a:ext cx="2743200" cy="541046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00F2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摘要：</a:t>
            </a:r>
            <a:r>
              <a:rPr lang="en-US" sz="2400" b="1" dirty="0" err="1">
                <a:solidFill>
                  <a:srgbClr val="00F2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研究背景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1527395"/>
            <a:ext cx="4929188" cy="71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 algn="l">
              <a:lnSpc>
                <a:spcPct val="144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台灣通訊系統高度依賴地面基地台與海底電纜</a:t>
            </a:r>
            <a:endParaRPr lang="en-US" sz="1600" dirty="0">
              <a:solidFill>
                <a:srgbClr val="FFFFFF">
                  <a:alpha val="90000"/>
                </a:srgbClr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171450" indent="-171450" algn="l">
              <a:lnSpc>
                <a:spcPct val="144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天然災害或人為蓄意破壞，基礎設施極易失效</a:t>
            </a: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3036342"/>
            <a:ext cx="257176" cy="2571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0081" y="2918709"/>
            <a:ext cx="3307556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研究方法：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結合 Starlink TLE 軌道資料與 Power BI 視覺化分析。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650081" y="3518965"/>
            <a:ext cx="4259544" cy="492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關鍵定位</a:t>
            </a: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：</a:t>
            </a:r>
            <a:r>
              <a:rPr lang="zh-TW" alt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觀察</a:t>
            </a:r>
            <a:r>
              <a:rPr lang="en-US" sz="16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傳統基地台在偏鄉與災區的連線能力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5357813" y="-7144"/>
            <a:ext cx="3786188" cy="5143500"/>
          </a:xfrm>
          <a:prstGeom prst="rect">
            <a:avLst/>
          </a:prstGeom>
          <a:solidFill>
            <a:srgbClr val="00F2FF">
              <a:alpha val="3000"/>
            </a:srgbClr>
          </a:solidFill>
          <a:ln/>
        </p:spPr>
      </p:sp>
      <p:sp>
        <p:nvSpPr>
          <p:cNvPr id="12" name="Shape 6"/>
          <p:cNvSpPr/>
          <p:nvPr/>
        </p:nvSpPr>
        <p:spPr>
          <a:xfrm>
            <a:off x="5643563" y="707231"/>
            <a:ext cx="3214688" cy="10001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Text 7"/>
          <p:cNvSpPr/>
          <p:nvPr/>
        </p:nvSpPr>
        <p:spPr>
          <a:xfrm>
            <a:off x="5857875" y="921544"/>
            <a:ext cx="3000375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F2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97.02%</a:t>
            </a:r>
            <a:endParaRPr lang="en-US" sz="2450" dirty="0"/>
          </a:p>
        </p:txBody>
      </p:sp>
      <p:sp>
        <p:nvSpPr>
          <p:cNvPr id="14" name="Text 8"/>
          <p:cNvSpPr/>
          <p:nvPr/>
        </p:nvSpPr>
        <p:spPr>
          <a:xfrm>
            <a:off x="5857875" y="1394817"/>
            <a:ext cx="30003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台灣上空衛星可用度</a:t>
            </a:r>
            <a:endParaRPr lang="en-US" sz="850" dirty="0"/>
          </a:p>
        </p:txBody>
      </p:sp>
      <p:sp>
        <p:nvSpPr>
          <p:cNvPr id="15" name="Shape 9"/>
          <p:cNvSpPr/>
          <p:nvPr/>
        </p:nvSpPr>
        <p:spPr>
          <a:xfrm>
            <a:off x="5643563" y="1921669"/>
            <a:ext cx="3214688" cy="10001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6" name="Text 10"/>
          <p:cNvSpPr/>
          <p:nvPr/>
        </p:nvSpPr>
        <p:spPr>
          <a:xfrm>
            <a:off x="5857875" y="2135981"/>
            <a:ext cx="30003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F2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LEO</a:t>
            </a:r>
            <a:endParaRPr lang="en-US" sz="2450" dirty="0"/>
          </a:p>
        </p:txBody>
      </p:sp>
      <p:sp>
        <p:nvSpPr>
          <p:cNvPr id="17" name="Text 11"/>
          <p:cNvSpPr/>
          <p:nvPr/>
        </p:nvSpPr>
        <p:spPr>
          <a:xfrm>
            <a:off x="5857875" y="2609255"/>
            <a:ext cx="30003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低延遲、廣域覆蓋特性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5643563" y="3136106"/>
            <a:ext cx="3214688" cy="10001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9" name="Text 13"/>
          <p:cNvSpPr/>
          <p:nvPr/>
        </p:nvSpPr>
        <p:spPr>
          <a:xfrm>
            <a:off x="5857875" y="3350419"/>
            <a:ext cx="3000375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F2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Starlink</a:t>
            </a:r>
            <a:endParaRPr lang="en-US" sz="2450" dirty="0"/>
          </a:p>
        </p:txBody>
      </p:sp>
      <p:sp>
        <p:nvSpPr>
          <p:cNvPr id="20" name="Text 14"/>
          <p:cNvSpPr/>
          <p:nvPr/>
        </p:nvSpPr>
        <p:spPr>
          <a:xfrm>
            <a:off x="5857875" y="3823692"/>
            <a:ext cx="30003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核心分析對象系統</a:t>
            </a:r>
            <a:endParaRPr lang="en-US" sz="850" dirty="0"/>
          </a:p>
        </p:txBody>
      </p:sp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96960C61-2DE0-2C3F-E09C-81E11EF7A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99" y="3563194"/>
            <a:ext cx="257176" cy="2571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28624" y="618353"/>
            <a:ext cx="3861435" cy="541046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F2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導論：研究動機與應用場景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28624" y="618352"/>
            <a:ext cx="3632835" cy="45719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591689"/>
            <a:ext cx="2571750" cy="3071813"/>
          </a:xfrm>
          <a:prstGeom prst="rect">
            <a:avLst/>
          </a:prstGeom>
          <a:solidFill>
            <a:srgbClr val="00F2FF">
              <a:alpha val="3000"/>
            </a:srgbClr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19" y="1833683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4394" y="1806001"/>
            <a:ext cx="1641475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00C9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LEO 核心特性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92969" y="2211409"/>
            <a:ext cx="1928813" cy="804451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低延遲：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軌道高度約 550km，傳輸延遲極低。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92969" y="3024800"/>
            <a:ext cx="1928813" cy="804451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廣域覆蓋：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不受地形限制，實現全台無死角連線。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92969" y="3914390"/>
            <a:ext cx="1928813" cy="804451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快速部署：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無需地面線路，災後可迅速建立通訊。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286125" y="1591689"/>
            <a:ext cx="2571750" cy="3071813"/>
          </a:xfrm>
          <a:prstGeom prst="rect">
            <a:avLst/>
          </a:prstGeom>
          <a:solidFill>
            <a:srgbClr val="00F2FF">
              <a:alpha val="3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892969" y="2211409"/>
            <a:ext cx="89768" cy="2542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92969" y="2994320"/>
            <a:ext cx="89768" cy="2542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92969" y="3952490"/>
            <a:ext cx="78548" cy="252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719" y="1833683"/>
            <a:ext cx="171450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21894" y="1806001"/>
            <a:ext cx="179536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00C9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台灣現況與政策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3750469" y="2211409"/>
            <a:ext cx="1928813" cy="804451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政府積極推動</a:t>
            </a:r>
            <a:r>
              <a:rPr lang="en-US" sz="1400" dirty="0" err="1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訊韌性</a:t>
            </a: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建設，強化數位國家安全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750469" y="3055694"/>
            <a:ext cx="1928813" cy="528671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中華電信與 OneWeb 合作建置地面站。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744516" y="3680516"/>
            <a:ext cx="2000964" cy="804772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altLang="zh-TW" sz="1400" b="1" i="0" dirty="0">
                <a:solidFill>
                  <a:srgbClr val="F9FAFB"/>
                </a:solidFill>
                <a:effectLst/>
                <a:latin typeface="quote-cjk-patch"/>
              </a:rPr>
              <a:t>B5G</a:t>
            </a:r>
            <a:r>
              <a:rPr lang="zh-TW" altLang="en-US" sz="1400" b="1" i="0" dirty="0">
                <a:solidFill>
                  <a:srgbClr val="F9FAFB"/>
                </a:solidFill>
                <a:effectLst/>
                <a:latin typeface="quote-cjk-patch"/>
              </a:rPr>
              <a:t>實驗衛星計畫</a:t>
            </a:r>
            <a:endParaRPr lang="en-US" altLang="zh-TW" sz="1400" b="1" i="0" dirty="0">
              <a:solidFill>
                <a:srgbClr val="F9FAFB"/>
              </a:solidFill>
              <a:effectLst/>
              <a:latin typeface="quote-cjk-patch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altLang="zh-TW" sz="1400" b="0" i="0" dirty="0">
                <a:solidFill>
                  <a:srgbClr val="F9FAFB"/>
                </a:solidFill>
                <a:effectLst/>
                <a:latin typeface="quote-cjk-patch"/>
              </a:rPr>
              <a:t>2+4</a:t>
            </a:r>
            <a:r>
              <a:rPr lang="zh-TW" altLang="en-US" sz="1400" b="0" i="0" dirty="0">
                <a:solidFill>
                  <a:srgbClr val="F9FAFB"/>
                </a:solidFill>
                <a:effectLst/>
                <a:latin typeface="quote-cjk-patch"/>
              </a:rPr>
              <a:t>顆自主研發低軌衛星，建構台灣</a:t>
            </a:r>
            <a:r>
              <a:rPr lang="zh-TW" altLang="en-US" sz="14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星網</a:t>
            </a:r>
            <a:endParaRPr lang="en-US" sz="1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Shape 16"/>
          <p:cNvSpPr/>
          <p:nvPr/>
        </p:nvSpPr>
        <p:spPr>
          <a:xfrm>
            <a:off x="6143625" y="1591689"/>
            <a:ext cx="2571750" cy="3071813"/>
          </a:xfrm>
          <a:prstGeom prst="rect">
            <a:avLst/>
          </a:prstGeom>
          <a:solidFill>
            <a:srgbClr val="00F2FF">
              <a:alpha val="3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3750469" y="2211409"/>
            <a:ext cx="89768" cy="2542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3708083" y="3024800"/>
            <a:ext cx="89768" cy="2542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4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219" y="1833683"/>
            <a:ext cx="192881" cy="1714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600825" y="1806001"/>
            <a:ext cx="153888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00C9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關鍵應用場景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6607969" y="2211409"/>
            <a:ext cx="1928813" cy="804451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偏鄉離島：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解決數位落差，提供穩定網路服務。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607969" y="2994320"/>
            <a:ext cx="1928813" cy="804451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緊急救援：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地震或停電導致基地台失效時的備援。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607969" y="3800090"/>
            <a:ext cx="1928813" cy="804451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斷纜備援：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海底電纜中斷時維持關鍵數據鏈路。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607969" y="2211409"/>
            <a:ext cx="89768" cy="2542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607969" y="3040040"/>
            <a:ext cx="89768" cy="2542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6607969" y="3777230"/>
            <a:ext cx="89768" cy="2542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400" dirty="0"/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C762D942-5BB1-C4F2-0843-E805E41E9329}"/>
              </a:ext>
            </a:extLst>
          </p:cNvPr>
          <p:cNvSpPr/>
          <p:nvPr/>
        </p:nvSpPr>
        <p:spPr>
          <a:xfrm>
            <a:off x="3721894" y="3702264"/>
            <a:ext cx="89768" cy="2542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28625" y="618353"/>
            <a:ext cx="1600200" cy="4875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618353"/>
            <a:ext cx="1600200" cy="14288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4" y="618353"/>
            <a:ext cx="3714751" cy="72571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F2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挑戰與預期目標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428625" y="1448814"/>
            <a:ext cx="3929063" cy="34290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1687237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5228" y="1532718"/>
            <a:ext cx="1436291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FFD7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面臨挑戰</a:t>
            </a:r>
            <a:endParaRPr lang="en-US" sz="2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157831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7250" y="2125684"/>
            <a:ext cx="923330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00C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法規層面</a:t>
            </a: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642938" y="2404290"/>
            <a:ext cx="3500438" cy="91973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 err="1">
                <a:solidFill>
                  <a:srgbClr val="FFFFFF">
                    <a:alpha val="80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外資持股比例限制</a:t>
            </a:r>
            <a:r>
              <a:rPr lang="en-US" altLang="zh-TW" sz="1600" dirty="0">
                <a:solidFill>
                  <a:srgbClr val="FFFFFF">
                    <a:alpha val="80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(49%)</a:t>
            </a:r>
            <a:endParaRPr lang="en-US" sz="1600" dirty="0">
              <a:solidFill>
                <a:srgbClr val="FFFFFF">
                  <a:alpha val="8000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2026</a:t>
            </a:r>
            <a:r>
              <a:rPr lang="zh-TW" altLang="en-US" sz="1600" dirty="0">
                <a:solidFill>
                  <a:srgbClr val="FFFFFF">
                    <a:alpha val="80000"/>
                  </a:srgbClr>
                </a:solidFill>
                <a:latin typeface="Calibri Light" panose="020F0302020204030204" pitchFamily="34" charset="0"/>
                <a:ea typeface="標楷體" panose="03000509000000000000" pitchFamily="65" charset="-120"/>
                <a:cs typeface="Calibri Light" panose="020F0302020204030204" pitchFamily="34" charset="0"/>
              </a:rPr>
              <a:t>提出</a:t>
            </a:r>
            <a:r>
              <a:rPr lang="en-US" altLang="zh-TW" sz="1600" dirty="0">
                <a:solidFill>
                  <a:srgbClr val="FFFFFF">
                    <a:alpha val="80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《</a:t>
            </a:r>
            <a:r>
              <a:rPr lang="zh-TW" altLang="en-US" sz="1600" dirty="0">
                <a:solidFill>
                  <a:srgbClr val="FFFFFF">
                    <a:alpha val="80000"/>
                  </a:srgbClr>
                </a:solidFill>
                <a:latin typeface="Calibri Light" panose="020F0302020204030204" pitchFamily="34" charset="0"/>
                <a:ea typeface="標楷體" panose="03000509000000000000" pitchFamily="65" charset="-120"/>
                <a:cs typeface="Calibri Light" panose="020F0302020204030204" pitchFamily="34" charset="0"/>
              </a:rPr>
              <a:t>電信管理法</a:t>
            </a:r>
            <a:r>
              <a:rPr lang="en-US" altLang="zh-TW" sz="1600" dirty="0">
                <a:solidFill>
                  <a:srgbClr val="FFFFFF">
                    <a:alpha val="80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》</a:t>
            </a:r>
            <a:r>
              <a:rPr lang="zh-TW" altLang="en-US" sz="1600" dirty="0">
                <a:solidFill>
                  <a:srgbClr val="FFFFFF">
                    <a:alpha val="80000"/>
                  </a:srgbClr>
                </a:solidFill>
                <a:latin typeface="Calibri Light" panose="020F0302020204030204" pitchFamily="34" charset="0"/>
                <a:ea typeface="標楷體" panose="03000509000000000000" pitchFamily="65" charset="-120"/>
                <a:cs typeface="Calibri Light" panose="020F0302020204030204" pitchFamily="34" charset="0"/>
              </a:rPr>
              <a:t>第</a:t>
            </a:r>
            <a:r>
              <a:rPr lang="en-US" altLang="zh-TW" sz="1600" dirty="0">
                <a:solidFill>
                  <a:srgbClr val="FFFFFF">
                    <a:alpha val="80000"/>
                  </a:srgb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36</a:t>
            </a:r>
            <a:r>
              <a:rPr lang="zh-TW" altLang="en-US" sz="1600" dirty="0">
                <a:solidFill>
                  <a:srgbClr val="FFFFFF">
                    <a:alpha val="80000"/>
                  </a:srgbClr>
                </a:solidFill>
                <a:latin typeface="Calibri Light" panose="020F0302020204030204" pitchFamily="34" charset="0"/>
                <a:ea typeface="標楷體" panose="03000509000000000000" pitchFamily="65" charset="-120"/>
                <a:cs typeface="Calibri Light" panose="020F0302020204030204" pitchFamily="34" charset="0"/>
              </a:rPr>
              <a:t>條修正草案</a:t>
            </a:r>
            <a:endParaRPr lang="en-US" sz="1600" dirty="0">
              <a:solidFill>
                <a:srgbClr val="FFFFFF">
                  <a:alpha val="80000"/>
                </a:srgb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3466079"/>
            <a:ext cx="160734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5109" y="3433932"/>
            <a:ext cx="923330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00C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技術層面</a:t>
            </a: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535780" y="3720407"/>
            <a:ext cx="3500438" cy="919291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地形遮蔽、大氣傳播效應及仰角動態變化對訊號品質與連線穩定性的影響。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4786313" y="1448814"/>
            <a:ext cx="3929063" cy="34290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1687237"/>
            <a:ext cx="200025" cy="20002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07806" y="1510726"/>
            <a:ext cx="1436291" cy="4308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0F2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預期目標</a:t>
            </a:r>
            <a:endParaRPr lang="en-US" sz="28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2157831"/>
            <a:ext cx="160734" cy="14287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32797" y="2125684"/>
            <a:ext cx="1154162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00C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視覺化分析</a:t>
            </a:r>
            <a:endParaRPr lang="en-US" dirty="0"/>
          </a:p>
        </p:txBody>
      </p:sp>
      <p:sp>
        <p:nvSpPr>
          <p:cNvPr id="20" name="Text 12"/>
          <p:cNvSpPr/>
          <p:nvPr/>
        </p:nvSpPr>
        <p:spPr>
          <a:xfrm>
            <a:off x="5000625" y="2404290"/>
            <a:ext cx="3500438" cy="60414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 err="1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建立互動式儀表板，整合衛星軌道、觀測站資訊及通訊品質指標</a:t>
            </a: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1600" dirty="0"/>
          </a:p>
        </p:txBody>
      </p:sp>
      <p:sp>
        <p:nvSpPr>
          <p:cNvPr id="22" name="Text 13"/>
          <p:cNvSpPr/>
          <p:nvPr/>
        </p:nvSpPr>
        <p:spPr>
          <a:xfrm>
            <a:off x="5214938" y="3007212"/>
            <a:ext cx="65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3326526"/>
            <a:ext cx="142875" cy="142875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14938" y="3294379"/>
            <a:ext cx="923330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00C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價值驗證</a:t>
            </a:r>
            <a:endParaRPr lang="en-US" dirty="0"/>
          </a:p>
        </p:txBody>
      </p:sp>
      <p:sp>
        <p:nvSpPr>
          <p:cNvPr id="26" name="Text 16"/>
          <p:cNvSpPr/>
          <p:nvPr/>
        </p:nvSpPr>
        <p:spPr>
          <a:xfrm>
            <a:off x="5000625" y="3572986"/>
            <a:ext cx="3500438" cy="604140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600" dirty="0" err="1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量化評估衛星覆蓋特性，驗證其在提升台灣通訊韌性方面的應用價值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28625" y="618353"/>
            <a:ext cx="2514600" cy="4875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618353"/>
            <a:ext cx="2514600" cy="14288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4" y="618353"/>
            <a:ext cx="4242435" cy="60260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F2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實驗設計與資料處理流程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350645" y="1663126"/>
            <a:ext cx="2482453" cy="2957513"/>
          </a:xfrm>
          <a:prstGeom prst="rect">
            <a:avLst/>
          </a:prstGeom>
          <a:solidFill>
            <a:srgbClr val="00F2FF">
              <a:alpha val="3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350645" y="1663126"/>
            <a:ext cx="2482453" cy="28575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8" name="Text 5"/>
          <p:cNvSpPr/>
          <p:nvPr/>
        </p:nvSpPr>
        <p:spPr>
          <a:xfrm>
            <a:off x="3318748" y="1734564"/>
            <a:ext cx="612347" cy="6155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F2FF">
                    <a:alpha val="2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01</a:t>
            </a:r>
            <a:endParaRPr lang="en-US" sz="4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239" y="1905121"/>
            <a:ext cx="150019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64983" y="1877439"/>
            <a:ext cx="923330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00F2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資料來源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529239" y="2282847"/>
            <a:ext cx="2125266" cy="479042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取得 Starlink 公開之 </a:t>
            </a:r>
            <a:r>
              <a:rPr lang="en-US" sz="1100" b="1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TLE (Two-Line Element)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軌道資料。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529239" y="2802889"/>
            <a:ext cx="2125266" cy="7302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整合「Starlink_Taiwan_Complete」預處理資料集。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529239" y="2282847"/>
            <a:ext cx="153888" cy="2278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2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529239" y="2802889"/>
            <a:ext cx="153888" cy="2278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2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1713" y="2949001"/>
            <a:ext cx="133945" cy="214313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4899422" y="1663126"/>
            <a:ext cx="2482453" cy="2957513"/>
          </a:xfrm>
          <a:prstGeom prst="rect">
            <a:avLst/>
          </a:prstGeom>
          <a:solidFill>
            <a:srgbClr val="00F2FF">
              <a:alpha val="3000"/>
            </a:srgbClr>
          </a:solidFill>
          <a:ln/>
        </p:spPr>
      </p:sp>
      <p:sp>
        <p:nvSpPr>
          <p:cNvPr id="31" name="Shape 24"/>
          <p:cNvSpPr/>
          <p:nvPr/>
        </p:nvSpPr>
        <p:spPr>
          <a:xfrm>
            <a:off x="4899422" y="1663126"/>
            <a:ext cx="2482453" cy="28575"/>
          </a:xfrm>
          <a:prstGeom prst="rect">
            <a:avLst/>
          </a:prstGeom>
          <a:solidFill>
            <a:srgbClr val="00C9FF"/>
          </a:solidFill>
          <a:ln/>
        </p:spPr>
      </p:sp>
      <p:sp>
        <p:nvSpPr>
          <p:cNvPr id="32" name="Text 25"/>
          <p:cNvSpPr/>
          <p:nvPr/>
        </p:nvSpPr>
        <p:spPr>
          <a:xfrm>
            <a:off x="6810375" y="1734564"/>
            <a:ext cx="519373" cy="6155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0F2FF">
                    <a:alpha val="2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02</a:t>
            </a:r>
            <a:endParaRPr lang="en-US" sz="40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8016" y="1905121"/>
            <a:ext cx="171450" cy="17145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35191" y="1877439"/>
            <a:ext cx="1163780" cy="276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00F2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Power BI </a:t>
            </a: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5087785" y="2330774"/>
            <a:ext cx="2294090" cy="22788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撰寫 </a:t>
            </a:r>
            <a:r>
              <a:rPr lang="en-US" sz="1100" b="1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DAX 量測值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計算 KPI 指標。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5078016" y="2282847"/>
            <a:ext cx="139462" cy="2290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2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078016" y="2802889"/>
            <a:ext cx="139462" cy="2290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2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FD475118-95C4-A959-7D95-7688D3C2D7AE}"/>
              </a:ext>
            </a:extLst>
          </p:cNvPr>
          <p:cNvSpPr/>
          <p:nvPr/>
        </p:nvSpPr>
        <p:spPr>
          <a:xfrm>
            <a:off x="5087785" y="2828274"/>
            <a:ext cx="1428468" cy="22788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zh-TW" altLang="en-US" sz="12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</a:rPr>
              <a:t>建立互動式儀表板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28625" y="618353"/>
            <a:ext cx="2596753" cy="4875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618353"/>
            <a:ext cx="2596753" cy="14288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618353"/>
            <a:ext cx="4143375" cy="60260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F2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分析方法與 KPI 指標定義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28625" y="1579046"/>
            <a:ext cx="1151595" cy="385763"/>
          </a:xfrm>
          <a:prstGeom prst="rect">
            <a:avLst/>
          </a:prstGeom>
          <a:solidFill>
            <a:srgbClr val="00F2FF">
              <a:alpha val="1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579046"/>
            <a:ext cx="1151595" cy="7144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1535454"/>
            <a:ext cx="1429302" cy="472950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關鍵指標 (KPI)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580220" y="1579046"/>
            <a:ext cx="4206218" cy="385763"/>
          </a:xfrm>
          <a:prstGeom prst="rect">
            <a:avLst/>
          </a:prstGeom>
          <a:solidFill>
            <a:srgbClr val="00F2FF">
              <a:alpha val="1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580220" y="1579046"/>
            <a:ext cx="4206218" cy="7144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2" name="Text 9"/>
          <p:cNvSpPr/>
          <p:nvPr/>
        </p:nvSpPr>
        <p:spPr>
          <a:xfrm>
            <a:off x="1580220" y="1535454"/>
            <a:ext cx="4206218" cy="47295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定義與通訊意義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35781" y="2171642"/>
            <a:ext cx="1077218" cy="227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可用衛星數量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580220" y="1878026"/>
            <a:ext cx="4206218" cy="72584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仰角大於 25 度之可連線衛星總數，代表系統冗餘度。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35781" y="2738203"/>
            <a:ext cx="718145" cy="227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平均仰角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580220" y="2444587"/>
            <a:ext cx="4206218" cy="72584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所有可見衛星之平均高度角，越高代表訊號路徑越短、品質越佳。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35781" y="3304764"/>
            <a:ext cx="1077218" cy="227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最近衛星距離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580220" y="3216322"/>
            <a:ext cx="4206218" cy="48455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 err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地面站與最近衛星之直線距離，直接影響傳輸延遲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35781" y="3870487"/>
            <a:ext cx="1077218" cy="227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通訊品質評分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580220" y="3735881"/>
            <a:ext cx="4206218" cy="48455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綜合考量數量、距離與仰角之 DAX 動態評分模型。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072188" y="1567489"/>
            <a:ext cx="2928938" cy="78581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072188" y="1567489"/>
            <a:ext cx="2928938" cy="714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7" name="Text 24"/>
          <p:cNvSpPr/>
          <p:nvPr/>
        </p:nvSpPr>
        <p:spPr>
          <a:xfrm>
            <a:off x="6250781" y="1710364"/>
            <a:ext cx="275034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平均仰角目標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250781" y="1890743"/>
            <a:ext cx="2750344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&gt; 25 度</a:t>
            </a:r>
            <a:endParaRPr lang="en-US" sz="3600" dirty="0"/>
          </a:p>
        </p:txBody>
      </p:sp>
      <p:sp>
        <p:nvSpPr>
          <p:cNvPr id="30" name="Shape 27"/>
          <p:cNvSpPr/>
          <p:nvPr/>
        </p:nvSpPr>
        <p:spPr>
          <a:xfrm>
            <a:off x="6072188" y="2496176"/>
            <a:ext cx="2928938" cy="714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1" name="Text 28"/>
          <p:cNvSpPr/>
          <p:nvPr/>
        </p:nvSpPr>
        <p:spPr>
          <a:xfrm>
            <a:off x="6250781" y="2639051"/>
            <a:ext cx="2750344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最近距離目標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250781" y="2819431"/>
            <a:ext cx="2750344" cy="55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&lt; 550公里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28625" y="618353"/>
            <a:ext cx="3429000" cy="48756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2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實驗呈現：衛星分布與可用度分析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5000625" y="0"/>
            <a:ext cx="4143375" cy="5143500"/>
          </a:xfrm>
          <a:prstGeom prst="rect">
            <a:avLst/>
          </a:prstGeom>
          <a:solidFill>
            <a:srgbClr val="00F2FF">
              <a:alpha val="2000"/>
            </a:srgbClr>
          </a:solidFill>
          <a:ln/>
        </p:spPr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123D140F-12A6-79C4-7B9F-4C33A5BBD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86" y="1471662"/>
            <a:ext cx="4777394" cy="2871737"/>
          </a:xfrm>
          <a:prstGeom prst="rect">
            <a:avLst/>
          </a:prstGeom>
        </p:spPr>
      </p:pic>
      <p:sp>
        <p:nvSpPr>
          <p:cNvPr id="22" name="Shape 6">
            <a:extLst>
              <a:ext uri="{FF2B5EF4-FFF2-40B4-BE49-F238E27FC236}">
                <a16:creationId xmlns:a16="http://schemas.microsoft.com/office/drawing/2014/main" id="{B791C5CD-E666-93CF-0E0B-5022E6074DDD}"/>
              </a:ext>
            </a:extLst>
          </p:cNvPr>
          <p:cNvSpPr/>
          <p:nvPr/>
        </p:nvSpPr>
        <p:spPr>
          <a:xfrm>
            <a:off x="5643563" y="707231"/>
            <a:ext cx="3214688" cy="10001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099B7A41-E2CA-D3D9-4ECD-40A0B38D26F9}"/>
              </a:ext>
            </a:extLst>
          </p:cNvPr>
          <p:cNvSpPr/>
          <p:nvPr/>
        </p:nvSpPr>
        <p:spPr>
          <a:xfrm>
            <a:off x="5857875" y="921544"/>
            <a:ext cx="3000375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F2FF"/>
                </a:solidFill>
                <a:latin typeface="Space Grotesk Medium" pitchFamily="34" charset="0"/>
                <a:ea typeface="Space Grotesk Medium" pitchFamily="34" charset="-122"/>
              </a:rPr>
              <a:t>72.85</a:t>
            </a:r>
            <a:r>
              <a:rPr lang="en-US" altLang="zh-TW" sz="2450" b="1" dirty="0">
                <a:solidFill>
                  <a:srgbClr val="00F2FF"/>
                </a:solidFill>
                <a:latin typeface="Space Grotesk Medium" pitchFamily="34" charset="0"/>
                <a:ea typeface="Space Grotesk Medium" pitchFamily="34" charset="-122"/>
              </a:rPr>
              <a:t>°</a:t>
            </a:r>
            <a:endParaRPr lang="en-US" sz="245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A5B6CE3C-066F-12AF-7231-E08781C1A668}"/>
              </a:ext>
            </a:extLst>
          </p:cNvPr>
          <p:cNvSpPr/>
          <p:nvPr/>
        </p:nvSpPr>
        <p:spPr>
          <a:xfrm>
            <a:off x="5857875" y="1394817"/>
            <a:ext cx="3000375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zh-TW" altLang="en-US" sz="8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仰角大於</a:t>
            </a:r>
            <a:r>
              <a:rPr lang="en-US" altLang="zh-TW" sz="8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46°</a:t>
            </a:r>
            <a:endParaRPr lang="en-US" sz="85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155C2F03-AFFB-627A-DA6A-97C145A9B37E}"/>
              </a:ext>
            </a:extLst>
          </p:cNvPr>
          <p:cNvSpPr/>
          <p:nvPr/>
        </p:nvSpPr>
        <p:spPr>
          <a:xfrm>
            <a:off x="5643563" y="1921669"/>
            <a:ext cx="3214688" cy="10001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331A608D-5FC3-2DB6-38EF-8EC1BE682847}"/>
              </a:ext>
            </a:extLst>
          </p:cNvPr>
          <p:cNvSpPr/>
          <p:nvPr/>
        </p:nvSpPr>
        <p:spPr>
          <a:xfrm>
            <a:off x="5857875" y="2135981"/>
            <a:ext cx="3000375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0F2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78.56</a:t>
            </a:r>
            <a:r>
              <a:rPr lang="en-US" altLang="zh-TW" sz="2450" b="1" dirty="0">
                <a:solidFill>
                  <a:srgbClr val="00F2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%</a:t>
            </a:r>
            <a:endParaRPr lang="en-US" sz="245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0B070842-3003-7E4D-6C52-5FE2AAADBA38}"/>
              </a:ext>
            </a:extLst>
          </p:cNvPr>
          <p:cNvSpPr/>
          <p:nvPr/>
        </p:nvSpPr>
        <p:spPr>
          <a:xfrm>
            <a:off x="5857875" y="2609255"/>
            <a:ext cx="3000375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zh-TW" altLang="en-US" sz="8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訊號強度大於</a:t>
            </a:r>
            <a:r>
              <a:rPr lang="en-US" altLang="zh-TW" sz="8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75%</a:t>
            </a:r>
            <a:endParaRPr lang="en-US" sz="85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42254087-349E-C2C5-A758-40D6AEC8752C}"/>
              </a:ext>
            </a:extLst>
          </p:cNvPr>
          <p:cNvSpPr/>
          <p:nvPr/>
        </p:nvSpPr>
        <p:spPr>
          <a:xfrm>
            <a:off x="5643563" y="3136106"/>
            <a:ext cx="3214688" cy="1000125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88F5E80E-3C2D-81AD-EE1A-17812F6CA1D0}"/>
              </a:ext>
            </a:extLst>
          </p:cNvPr>
          <p:cNvSpPr/>
          <p:nvPr/>
        </p:nvSpPr>
        <p:spPr>
          <a:xfrm>
            <a:off x="5857875" y="3350419"/>
            <a:ext cx="3000375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zh-TW" altLang="en-US" sz="2450" b="1" dirty="0">
                <a:solidFill>
                  <a:srgbClr val="00F2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通訊良好</a:t>
            </a:r>
            <a:endParaRPr lang="en-US" sz="245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9B5A5F5B-8636-3841-6C51-865A9EBCD62A}"/>
              </a:ext>
            </a:extLst>
          </p:cNvPr>
          <p:cNvSpPr/>
          <p:nvPr/>
        </p:nvSpPr>
        <p:spPr>
          <a:xfrm>
            <a:off x="516255" y="1206635"/>
            <a:ext cx="3000375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台東為例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28625" y="618353"/>
            <a:ext cx="2971800" cy="4875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618353"/>
            <a:ext cx="2971800" cy="14288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618353"/>
            <a:ext cx="2971800" cy="48756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2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深度分析：單一衛星過境特徵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8625" y="1305939"/>
            <a:ext cx="8286750" cy="250031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1520251"/>
            <a:ext cx="4790121" cy="214312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02" y="4274167"/>
            <a:ext cx="107156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85496" y="4242020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D7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訊號即時響應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506902" y="4563489"/>
            <a:ext cx="2619384" cy="517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當衛星接近天頂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（仰角 &gt; 80°）時，訊號強度同步達到峰值（約 85%）。驗證了</a:t>
            </a:r>
            <a:r>
              <a:rPr lang="en-US" sz="800" b="1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高仰角 = 低損耗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的空間通訊理論。</a:t>
            </a:r>
            <a:endParaRPr lang="en-US" sz="8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0599" y="4274167"/>
            <a:ext cx="142875" cy="14287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554911" y="4242020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D7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物理特徵驗證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3340599" y="4563489"/>
            <a:ext cx="2619356" cy="541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仰角越高，與地面站直線距離最短、穿透大氣層最薄。</a:t>
            </a: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此實驗數據為衛星通訊的</a:t>
            </a:r>
            <a:r>
              <a:rPr lang="en-US" sz="1000" b="1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穩定性評估</a:t>
            </a: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提供了堅實的物理依據</a:t>
            </a: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850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8BB892CF-9FDB-116D-47FD-A786687C24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1653" y="1373832"/>
            <a:ext cx="2971800" cy="24895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28625" y="618353"/>
            <a:ext cx="3429000" cy="4875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618353"/>
            <a:ext cx="3429000" cy="14288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618353"/>
            <a:ext cx="3429000" cy="48756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2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動態監控：通訊品質自動判定系統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8625" y="1377376"/>
            <a:ext cx="2619356" cy="195713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1377376"/>
            <a:ext cx="2619356" cy="28575"/>
          </a:xfrm>
          <a:prstGeom prst="rect">
            <a:avLst/>
          </a:prstGeom>
          <a:solidFill>
            <a:srgbClr val="00C9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1616692"/>
            <a:ext cx="114300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8675" y="1591689"/>
            <a:ext cx="5715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可用衛星數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262294" y="1377376"/>
            <a:ext cx="2619384" cy="195713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3262294" y="1377376"/>
            <a:ext cx="2619384" cy="28575"/>
          </a:xfrm>
          <a:prstGeom prst="rect">
            <a:avLst/>
          </a:prstGeom>
          <a:solidFill>
            <a:srgbClr val="00C9F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06" y="1555732"/>
            <a:ext cx="85725" cy="1143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33769" y="1530729"/>
            <a:ext cx="6858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衛星可用比例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3476606" y="1863151"/>
            <a:ext cx="2190759" cy="438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0F2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97.02%</a:t>
            </a:r>
            <a:endParaRPr lang="en-US" sz="2850" dirty="0"/>
          </a:p>
        </p:txBody>
      </p:sp>
      <p:sp>
        <p:nvSpPr>
          <p:cNvPr id="18" name="Shape 13"/>
          <p:cNvSpPr/>
          <p:nvPr/>
        </p:nvSpPr>
        <p:spPr>
          <a:xfrm>
            <a:off x="6095991" y="1377376"/>
            <a:ext cx="2619356" cy="1957136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6095991" y="1377376"/>
            <a:ext cx="2619356" cy="28575"/>
          </a:xfrm>
          <a:prstGeom prst="rect">
            <a:avLst/>
          </a:prstGeom>
          <a:solidFill>
            <a:srgbClr val="00C9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0303" y="1555732"/>
            <a:ext cx="114300" cy="1143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96041" y="1530729"/>
            <a:ext cx="6858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通訊品質狀態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6310303" y="1863151"/>
            <a:ext cx="2190731" cy="580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00F2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良好</a:t>
            </a:r>
            <a:endParaRPr lang="en-US" sz="2850" dirty="0"/>
          </a:p>
        </p:txBody>
      </p:sp>
      <p:sp>
        <p:nvSpPr>
          <p:cNvPr id="24" name="Shape 18"/>
          <p:cNvSpPr/>
          <p:nvPr/>
        </p:nvSpPr>
        <p:spPr>
          <a:xfrm>
            <a:off x="3079017" y="3412608"/>
            <a:ext cx="2948559" cy="1643063"/>
          </a:xfrm>
          <a:prstGeom prst="rect">
            <a:avLst/>
          </a:prstGeom>
          <a:solidFill>
            <a:srgbClr val="00F2FF">
              <a:alpha val="5000"/>
            </a:srgbClr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767" y="3661746"/>
            <a:ext cx="196453" cy="15716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646945" y="3626920"/>
            <a:ext cx="2128838" cy="176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zh-TW" altLang="en-US" sz="1150" dirty="0">
                <a:solidFill>
                  <a:srgbClr val="00F2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海底電纜</a:t>
            </a:r>
            <a:endParaRPr lang="en-US" sz="1150" dirty="0"/>
          </a:p>
        </p:txBody>
      </p:sp>
      <p:pic>
        <p:nvPicPr>
          <p:cNvPr id="52" name="圖片 51">
            <a:extLst>
              <a:ext uri="{FF2B5EF4-FFF2-40B4-BE49-F238E27FC236}">
                <a16:creationId xmlns:a16="http://schemas.microsoft.com/office/drawing/2014/main" id="{A2CB3998-89AF-5E40-C79B-B7BA54CF0F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3204" y="1461731"/>
            <a:ext cx="1467259" cy="1825559"/>
          </a:xfrm>
          <a:prstGeom prst="rect">
            <a:avLst/>
          </a:prstGeom>
        </p:spPr>
      </p:pic>
      <p:pic>
        <p:nvPicPr>
          <p:cNvPr id="54" name="圖片 53">
            <a:extLst>
              <a:ext uri="{FF2B5EF4-FFF2-40B4-BE49-F238E27FC236}">
                <a16:creationId xmlns:a16="http://schemas.microsoft.com/office/drawing/2014/main" id="{E4D671D8-5FD2-2AA0-7890-3739254531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6605" y="1732718"/>
            <a:ext cx="2190760" cy="1411091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75895597-5EF6-0B15-C094-57BD83F25E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987" y="1731130"/>
            <a:ext cx="2389362" cy="1495200"/>
          </a:xfrm>
          <a:prstGeom prst="rect">
            <a:avLst/>
          </a:prstGeom>
        </p:spPr>
      </p:pic>
      <p:pic>
        <p:nvPicPr>
          <p:cNvPr id="58" name="圖片 57">
            <a:extLst>
              <a:ext uri="{FF2B5EF4-FFF2-40B4-BE49-F238E27FC236}">
                <a16:creationId xmlns:a16="http://schemas.microsoft.com/office/drawing/2014/main" id="{E4186526-1CB8-2C9C-B73B-0B2E081217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6945" y="3956281"/>
            <a:ext cx="2143424" cy="7335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618353"/>
            <a:ext cx="1600200" cy="48756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618353"/>
            <a:ext cx="1600200" cy="14288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618353"/>
            <a:ext cx="1600200" cy="48756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F2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結論與未來展望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8625" y="1448814"/>
            <a:ext cx="3929063" cy="34290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687237"/>
            <a:ext cx="150019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0113" y="1663126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FD7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研究總結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2157831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7250" y="2125684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C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高可用度驗證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642938" y="2404290"/>
            <a:ext cx="3500438" cy="3886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低軌衛星在模擬數據中展現近 100% 的高可用度，證實其作為台灣通訊韌性「最後一道防線」的潛力。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3039359"/>
            <a:ext cx="142875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57250" y="3007212"/>
            <a:ext cx="5715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C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監控價值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642938" y="3285818"/>
            <a:ext cx="3500438" cy="3886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透過 Power BI 儀表板能有效監控並量化通訊風險，實現全自動、高準確性的備援鏈路動態監控。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4786313" y="1448814"/>
            <a:ext cx="3929063" cy="34290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1687237"/>
            <a:ext cx="200025" cy="20002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07806" y="1663126"/>
            <a:ext cx="685800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F2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未來建議</a:t>
            </a:r>
            <a:endParaRPr lang="en-US" sz="12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2094479"/>
            <a:ext cx="178594" cy="14287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250656" y="2062332"/>
            <a:ext cx="71437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C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法規與成本</a:t>
            </a:r>
            <a:endParaRPr lang="en-US" sz="1000" dirty="0"/>
          </a:p>
        </p:txBody>
      </p:sp>
      <p:sp>
        <p:nvSpPr>
          <p:cNvPr id="23" name="Text 14"/>
          <p:cNvSpPr/>
          <p:nvPr/>
        </p:nvSpPr>
        <p:spPr>
          <a:xfrm>
            <a:off x="5000625" y="2340938"/>
            <a:ext cx="3500438" cy="3886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持續評估商業部署成本與法規開放進度，優化外資持股與頻譜使用政策，以利國際業者落地。</a:t>
            </a:r>
            <a:endParaRPr lang="en-US" sz="90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0F976E5F-17EC-1BE6-D4CF-BD626E5FAAFD}"/>
              </a:ext>
            </a:extLst>
          </p:cNvPr>
          <p:cNvSpPr/>
          <p:nvPr/>
        </p:nvSpPr>
        <p:spPr>
          <a:xfrm>
            <a:off x="5262848" y="2793852"/>
            <a:ext cx="76944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zh-TW" altLang="en-US" sz="1000" dirty="0">
                <a:solidFill>
                  <a:srgbClr val="00C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國產自給自足</a:t>
            </a:r>
            <a:endParaRPr lang="en-US" sz="1000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66BD1273-A093-378E-9E6F-2361454BB348}"/>
              </a:ext>
            </a:extLst>
          </p:cNvPr>
          <p:cNvSpPr/>
          <p:nvPr/>
        </p:nvSpPr>
        <p:spPr>
          <a:xfrm>
            <a:off x="5012817" y="3072458"/>
            <a:ext cx="3500438" cy="162609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zh-TW" altLang="en-US" sz="9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接洽多家廠商以及自主研發，建置衛星發射載台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3C57C3C-ED32-CBDE-032F-191873A55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93" y="2350069"/>
            <a:ext cx="8497486" cy="1857634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CD2BA132-E35E-A351-EC8C-B0D250079588}"/>
              </a:ext>
            </a:extLst>
          </p:cNvPr>
          <p:cNvSpPr/>
          <p:nvPr/>
        </p:nvSpPr>
        <p:spPr>
          <a:xfrm>
            <a:off x="1743075" y="1683693"/>
            <a:ext cx="5657850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kern="0" spc="2" dirty="0">
                <a:solidFill>
                  <a:srgbClr val="00F2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git</a:t>
            </a:r>
            <a:r>
              <a:rPr lang="zh-TW" altLang="en-US" sz="3300" b="1" kern="0" spc="2" dirty="0">
                <a:solidFill>
                  <a:srgbClr val="00F2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紀錄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3939579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82541" y="1504987"/>
            <a:ext cx="2778919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150" b="1" dirty="0">
                <a:solidFill>
                  <a:srgbClr val="00F2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謝謝聆聽</a:t>
            </a:r>
            <a:endParaRPr lang="en-US" sz="4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541" y="3846351"/>
            <a:ext cx="17859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446859" y="3814204"/>
            <a:ext cx="10001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歡迎提問與交流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734" y="3846351"/>
            <a:ext cx="142875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61334" y="3814204"/>
            <a:ext cx="10001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報告人：賴俊升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373</Words>
  <Application>Microsoft Office PowerPoint</Application>
  <PresentationFormat>如螢幕大小 (16:9)</PresentationFormat>
  <Paragraphs>127</Paragraphs>
  <Slides>12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9" baseType="lpstr">
      <vt:lpstr>Inter</vt:lpstr>
      <vt:lpstr>quote-cjk-patch</vt:lpstr>
      <vt:lpstr>Space Grotesk Medium</vt:lpstr>
      <vt:lpstr>Arial</vt:lpstr>
      <vt:lpstr>Calibri Light</vt:lpstr>
      <vt:lpstr>Montserrat Bold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sheng lai</cp:lastModifiedBy>
  <cp:revision>41</cp:revision>
  <dcterms:created xsi:type="dcterms:W3CDTF">2026-06-02T09:55:54Z</dcterms:created>
  <dcterms:modified xsi:type="dcterms:W3CDTF">2026-06-15T10:12:08Z</dcterms:modified>
</cp:coreProperties>
</file>